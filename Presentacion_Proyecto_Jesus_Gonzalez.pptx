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INTERMODULAR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05156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Activo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OpenLDAP</a:t>
            </a:r>
            <a:endParaRPr lang="en-US" sz="3600" dirty="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48640" y="31089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Centralizada para Oficinas Delta S.L.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Proxmox VE</a:t>
            </a:r>
            <a:endParaRPr lang="en-US" sz="1400" dirty="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48640" y="3822192"/>
            <a:ext cx="502920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548640" y="393192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González Ruiz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Limón Limón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SMR — I.E.S. La Marisma — Mayo 2026</a:t>
            </a:r>
            <a:endParaRPr lang="en-US" sz="1300" dirty="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>
            <a:spLocks noGrp="1"/>
          </p:cNvSpPr>
          <p:nvPr/>
        </p:nvSpPr>
        <p:spPr>
          <a:xfrm>
            <a:off x="6876288" y="521208"/>
            <a:ext cx="694944" cy="694944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2" y="667512"/>
            <a:ext cx="402336" cy="402336"/>
          </a:xfrm>
          <a:prstGeom prst="rect">
            <a:avLst/>
          </a:prstGeom>
        </p:spPr>
      </p:pic>
      <p:sp>
        <p:nvSpPr>
          <p:cNvPr id="11" name="Shape 8"/>
          <p:cNvSpPr>
            <a:spLocks noGrp="1"/>
          </p:cNvSpPr>
          <p:nvPr/>
        </p:nvSpPr>
        <p:spPr>
          <a:xfrm>
            <a:off x="6876288" y="1344168"/>
            <a:ext cx="694944" cy="694944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90472"/>
            <a:ext cx="402336" cy="402336"/>
          </a:xfrm>
          <a:prstGeom prst="rect">
            <a:avLst/>
          </a:prstGeom>
        </p:spPr>
      </p:pic>
      <p:sp>
        <p:nvSpPr>
          <p:cNvPr id="13" name="Shape 9"/>
          <p:cNvSpPr>
            <a:spLocks noGrp="1"/>
          </p:cNvSpPr>
          <p:nvPr/>
        </p:nvSpPr>
        <p:spPr>
          <a:xfrm>
            <a:off x="6876288" y="2167128"/>
            <a:ext cx="694944" cy="694944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2313432"/>
            <a:ext cx="402336" cy="402336"/>
          </a:xfrm>
          <a:prstGeom prst="rect">
            <a:avLst/>
          </a:prstGeom>
        </p:spPr>
      </p:pic>
      <p:sp>
        <p:nvSpPr>
          <p:cNvPr id="15" name="Shape 10"/>
          <p:cNvSpPr>
            <a:spLocks noGrp="1"/>
          </p:cNvSpPr>
          <p:nvPr/>
        </p:nvSpPr>
        <p:spPr>
          <a:xfrm>
            <a:off x="6876288" y="2990088"/>
            <a:ext cx="694944" cy="694944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3136392"/>
            <a:ext cx="402336" cy="402336"/>
          </a:xfrm>
          <a:prstGeom prst="rect">
            <a:avLst/>
          </a:prstGeom>
        </p:spPr>
      </p:pic>
      <p:sp>
        <p:nvSpPr>
          <p:cNvPr id="17" name="Shape 11"/>
          <p:cNvSpPr>
            <a:spLocks noGrp="1"/>
          </p:cNvSpPr>
          <p:nvPr/>
        </p:nvSpPr>
        <p:spPr>
          <a:xfrm>
            <a:off x="6876288" y="3813048"/>
            <a:ext cx="694944" cy="694944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2" y="3959352"/>
            <a:ext cx="402336" cy="402336"/>
          </a:xfrm>
          <a:prstGeom prst="rect">
            <a:avLst/>
          </a:prstGeom>
        </p:spPr>
      </p:pic>
      <p:sp>
        <p:nvSpPr>
          <p:cNvPr id="19" name="Shape 12"/>
          <p:cNvSpPr>
            <a:spLocks noGrp="1"/>
          </p:cNvSpPr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600" dirty="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320040" y="118872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320040" y="1188720"/>
            <a:ext cx="64008" cy="749808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384048" cy="384048"/>
          </a:xfrm>
          <a:prstGeom prst="rect">
            <a:avLst/>
          </a:prstGeom>
        </p:spPr>
      </p:pic>
      <p:sp>
        <p:nvSpPr>
          <p:cNvPr id="7" name="Text 4"/>
          <p:cNvSpPr>
            <a:spLocks noGrp="1"/>
          </p:cNvSpPr>
          <p:nvPr/>
        </p:nvSpPr>
        <p:spPr>
          <a:xfrm>
            <a:off x="96012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96012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— Oficinas Delta S.L.</a:t>
            </a:r>
            <a:endParaRPr lang="en-US" sz="1300" dirty="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320040" y="208483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320040" y="2084832"/>
            <a:ext cx="64008" cy="749808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4942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>
            <a:spLocks noGrp="1"/>
          </p:cNvSpPr>
          <p:nvPr/>
        </p:nvSpPr>
        <p:spPr>
          <a:xfrm>
            <a:off x="960120" y="2176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9"/>
          <p:cNvSpPr>
            <a:spLocks noGrp="1"/>
          </p:cNvSpPr>
          <p:nvPr/>
        </p:nvSpPr>
        <p:spPr>
          <a:xfrm>
            <a:off x="960120" y="2404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— ¿Por qué LDAP?</a:t>
            </a:r>
            <a:endParaRPr lang="en-US" sz="1300" dirty="0"/>
          </a:p>
        </p:txBody>
      </p:sp>
      <p:sp>
        <p:nvSpPr>
          <p:cNvPr id="14" name="Shape 10"/>
          <p:cNvSpPr>
            <a:spLocks noGrp="1"/>
          </p:cNvSpPr>
          <p:nvPr/>
        </p:nvSpPr>
        <p:spPr>
          <a:xfrm>
            <a:off x="320040" y="2980944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>
            <a:spLocks noGrp="1"/>
          </p:cNvSpPr>
          <p:nvPr/>
        </p:nvSpPr>
        <p:spPr>
          <a:xfrm>
            <a:off x="320040" y="2980944"/>
            <a:ext cx="64008" cy="749808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455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>
            <a:spLocks noGrp="1"/>
          </p:cNvSpPr>
          <p:nvPr/>
        </p:nvSpPr>
        <p:spPr>
          <a:xfrm>
            <a:off x="960120" y="3072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3"/>
          <p:cNvSpPr>
            <a:spLocks noGrp="1"/>
          </p:cNvSpPr>
          <p:nvPr/>
        </p:nvSpPr>
        <p:spPr>
          <a:xfrm>
            <a:off x="960120" y="33009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GAP — AS-IS vs TO-BE</a:t>
            </a:r>
            <a:endParaRPr lang="en-US" sz="1300" dirty="0"/>
          </a:p>
        </p:txBody>
      </p:sp>
      <p:sp>
        <p:nvSpPr>
          <p:cNvPr id="19" name="Shape 14"/>
          <p:cNvSpPr>
            <a:spLocks noGrp="1"/>
          </p:cNvSpPr>
          <p:nvPr/>
        </p:nvSpPr>
        <p:spPr>
          <a:xfrm>
            <a:off x="320040" y="3877056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>
            <a:spLocks noGrp="1"/>
          </p:cNvSpPr>
          <p:nvPr/>
        </p:nvSpPr>
        <p:spPr>
          <a:xfrm>
            <a:off x="320040" y="3877056"/>
            <a:ext cx="64008" cy="749808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4164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>
            <a:spLocks noGrp="1"/>
          </p:cNvSpPr>
          <p:nvPr/>
        </p:nvSpPr>
        <p:spPr>
          <a:xfrm>
            <a:off x="960120" y="396849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17"/>
          <p:cNvSpPr>
            <a:spLocks noGrp="1"/>
          </p:cNvSpPr>
          <p:nvPr/>
        </p:nvSpPr>
        <p:spPr>
          <a:xfrm>
            <a:off x="960120" y="41970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 y diseño</a:t>
            </a:r>
            <a:endParaRPr lang="en-US" sz="1300" dirty="0"/>
          </a:p>
        </p:txBody>
      </p:sp>
      <p:sp>
        <p:nvSpPr>
          <p:cNvPr id="24" name="Shape 18"/>
          <p:cNvSpPr>
            <a:spLocks noGrp="1"/>
          </p:cNvSpPr>
          <p:nvPr/>
        </p:nvSpPr>
        <p:spPr>
          <a:xfrm>
            <a:off x="4709160" y="118872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>
            <a:spLocks noGrp="1"/>
          </p:cNvSpPr>
          <p:nvPr/>
        </p:nvSpPr>
        <p:spPr>
          <a:xfrm>
            <a:off x="4709160" y="1188720"/>
            <a:ext cx="64008" cy="749808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35331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>
            <a:spLocks noGrp="1"/>
          </p:cNvSpPr>
          <p:nvPr/>
        </p:nvSpPr>
        <p:spPr>
          <a:xfrm>
            <a:off x="534924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1"/>
          <p:cNvSpPr>
            <a:spLocks noGrp="1"/>
          </p:cNvSpPr>
          <p:nvPr/>
        </p:nvSpPr>
        <p:spPr>
          <a:xfrm>
            <a:off x="534924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paso a paso</a:t>
            </a:r>
            <a:endParaRPr lang="en-US" sz="1300" dirty="0"/>
          </a:p>
        </p:txBody>
      </p:sp>
      <p:sp>
        <p:nvSpPr>
          <p:cNvPr id="29" name="Shape 22"/>
          <p:cNvSpPr>
            <a:spLocks noGrp="1"/>
          </p:cNvSpPr>
          <p:nvPr/>
        </p:nvSpPr>
        <p:spPr>
          <a:xfrm>
            <a:off x="4709160" y="208483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>
            <a:spLocks noGrp="1"/>
          </p:cNvSpPr>
          <p:nvPr/>
        </p:nvSpPr>
        <p:spPr>
          <a:xfrm>
            <a:off x="4709160" y="2084832"/>
            <a:ext cx="64008" cy="749808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249424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>
            <a:spLocks noGrp="1"/>
          </p:cNvSpPr>
          <p:nvPr/>
        </p:nvSpPr>
        <p:spPr>
          <a:xfrm>
            <a:off x="5349240" y="2176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25"/>
          <p:cNvSpPr>
            <a:spLocks noGrp="1"/>
          </p:cNvSpPr>
          <p:nvPr/>
        </p:nvSpPr>
        <p:spPr>
          <a:xfrm>
            <a:off x="5349240" y="2404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servicios web</a:t>
            </a:r>
            <a:endParaRPr lang="en-US" sz="1300" dirty="0"/>
          </a:p>
        </p:txBody>
      </p:sp>
      <p:sp>
        <p:nvSpPr>
          <p:cNvPr id="34" name="Shape 26"/>
          <p:cNvSpPr>
            <a:spLocks noGrp="1"/>
          </p:cNvSpPr>
          <p:nvPr/>
        </p:nvSpPr>
        <p:spPr>
          <a:xfrm>
            <a:off x="4709160" y="2980944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27"/>
          <p:cNvSpPr>
            <a:spLocks noGrp="1"/>
          </p:cNvSpPr>
          <p:nvPr/>
        </p:nvSpPr>
        <p:spPr>
          <a:xfrm>
            <a:off x="4709160" y="2980944"/>
            <a:ext cx="64008" cy="749808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145536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>
            <a:spLocks noGrp="1"/>
          </p:cNvSpPr>
          <p:nvPr/>
        </p:nvSpPr>
        <p:spPr>
          <a:xfrm>
            <a:off x="5349240" y="3072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29"/>
          <p:cNvSpPr>
            <a:spLocks noGrp="1"/>
          </p:cNvSpPr>
          <p:nvPr/>
        </p:nvSpPr>
        <p:spPr>
          <a:xfrm>
            <a:off x="5349240" y="33009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resolución de incidencias</a:t>
            </a:r>
            <a:endParaRPr lang="en-US" sz="1300" dirty="0"/>
          </a:p>
        </p:txBody>
      </p:sp>
      <p:sp>
        <p:nvSpPr>
          <p:cNvPr id="39" name="Shape 30"/>
          <p:cNvSpPr>
            <a:spLocks noGrp="1"/>
          </p:cNvSpPr>
          <p:nvPr/>
        </p:nvSpPr>
        <p:spPr>
          <a:xfrm>
            <a:off x="4709160" y="3877056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1"/>
          <p:cNvSpPr>
            <a:spLocks noGrp="1"/>
          </p:cNvSpPr>
          <p:nvPr/>
        </p:nvSpPr>
        <p:spPr>
          <a:xfrm>
            <a:off x="4709160" y="3877056"/>
            <a:ext cx="64008" cy="749808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041648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>
            <a:spLocks noGrp="1"/>
          </p:cNvSpPr>
          <p:nvPr/>
        </p:nvSpPr>
        <p:spPr>
          <a:xfrm>
            <a:off x="5349240" y="396849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33"/>
          <p:cNvSpPr>
            <a:spLocks noGrp="1"/>
          </p:cNvSpPr>
          <p:nvPr/>
        </p:nvSpPr>
        <p:spPr>
          <a:xfrm>
            <a:off x="5349240" y="41970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ampliaciones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Oficinas Delta S.L. — La empresa</a:t>
            </a:r>
            <a:endParaRPr lang="en-US" sz="2400" dirty="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320040" y="1188720"/>
            <a:ext cx="265176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320040" y="1188720"/>
            <a:ext cx="2651760" cy="502920"/>
          </a:xfrm>
          <a:prstGeom prst="rect">
            <a:avLst/>
          </a:prstGeom>
          <a:solidFill>
            <a:srgbClr val="0288D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98448"/>
            <a:ext cx="548640" cy="548640"/>
          </a:xfrm>
          <a:prstGeom prst="rect">
            <a:avLst/>
          </a:prstGeom>
        </p:spPr>
      </p:pic>
      <p:sp>
        <p:nvSpPr>
          <p:cNvPr id="7" name="Text 4"/>
          <p:cNvSpPr>
            <a:spLocks noGrp="1"/>
          </p:cNvSpPr>
          <p:nvPr/>
        </p:nvSpPr>
        <p:spPr>
          <a:xfrm>
            <a:off x="41148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</a:t>
            </a:r>
            <a:endParaRPr lang="en-US" sz="1400" dirty="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57200" y="2240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facturas,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y auditorías</a:t>
            </a:r>
            <a:endParaRPr lang="en-US" sz="1200" dirty="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3172968" y="1188720"/>
            <a:ext cx="265176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3172968" y="1188720"/>
            <a:ext cx="2651760" cy="5029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29844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>
            <a:spLocks noGrp="1"/>
          </p:cNvSpPr>
          <p:nvPr/>
        </p:nvSpPr>
        <p:spPr>
          <a:xfrm>
            <a:off x="3264408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</a:t>
            </a:r>
            <a:endParaRPr lang="en-US" sz="1400" dirty="0"/>
          </a:p>
        </p:txBody>
      </p:sp>
      <p:sp>
        <p:nvSpPr>
          <p:cNvPr id="13" name="Text 9"/>
          <p:cNvSpPr>
            <a:spLocks noGrp="1"/>
          </p:cNvSpPr>
          <p:nvPr/>
        </p:nvSpPr>
        <p:spPr>
          <a:xfrm>
            <a:off x="3310128" y="2240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personal,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nóminas y contratos</a:t>
            </a:r>
            <a:endParaRPr lang="en-US" sz="1200" dirty="0"/>
          </a:p>
        </p:txBody>
      </p:sp>
      <p:sp>
        <p:nvSpPr>
          <p:cNvPr id="14" name="Shape 10"/>
          <p:cNvSpPr>
            <a:spLocks noGrp="1"/>
          </p:cNvSpPr>
          <p:nvPr/>
        </p:nvSpPr>
        <p:spPr>
          <a:xfrm>
            <a:off x="6025896" y="1188720"/>
            <a:ext cx="2651760" cy="2743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>
            <a:spLocks noGrp="1"/>
          </p:cNvSpPr>
          <p:nvPr/>
        </p:nvSpPr>
        <p:spPr>
          <a:xfrm>
            <a:off x="6025896" y="118872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298448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>
            <a:spLocks noGrp="1"/>
          </p:cNvSpPr>
          <p:nvPr/>
        </p:nvSpPr>
        <p:spPr>
          <a:xfrm>
            <a:off x="6117336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</a:t>
            </a:r>
            <a:endParaRPr lang="en-US" sz="1400" dirty="0"/>
          </a:p>
        </p:txBody>
      </p:sp>
      <p:sp>
        <p:nvSpPr>
          <p:cNvPr id="18" name="Text 13"/>
          <p:cNvSpPr>
            <a:spLocks noGrp="1"/>
          </p:cNvSpPr>
          <p:nvPr/>
        </p:nvSpPr>
        <p:spPr>
          <a:xfrm>
            <a:off x="6163056" y="2240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global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 decisiones</a:t>
            </a:r>
            <a:endParaRPr lang="en-US" sz="1200" dirty="0"/>
          </a:p>
        </p:txBody>
      </p:sp>
      <p:sp>
        <p:nvSpPr>
          <p:cNvPr id="19" name="Shape 14"/>
          <p:cNvSpPr>
            <a:spLocks noGrp="1"/>
          </p:cNvSpPr>
          <p:nvPr/>
        </p:nvSpPr>
        <p:spPr>
          <a:xfrm>
            <a:off x="320040" y="4160520"/>
            <a:ext cx="196596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>
            <a:spLocks noGrp="1"/>
          </p:cNvSpPr>
          <p:nvPr/>
        </p:nvSpPr>
        <p:spPr>
          <a:xfrm>
            <a:off x="320040" y="41879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21" name="Text 16"/>
          <p:cNvSpPr>
            <a:spLocks noGrp="1"/>
          </p:cNvSpPr>
          <p:nvPr/>
        </p:nvSpPr>
        <p:spPr>
          <a:xfrm>
            <a:off x="320040" y="4526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</a:t>
            </a:r>
            <a:endParaRPr lang="en-US" sz="1000" dirty="0"/>
          </a:p>
        </p:txBody>
      </p:sp>
      <p:sp>
        <p:nvSpPr>
          <p:cNvPr id="22" name="Shape 17"/>
          <p:cNvSpPr>
            <a:spLocks noGrp="1"/>
          </p:cNvSpPr>
          <p:nvPr/>
        </p:nvSpPr>
        <p:spPr>
          <a:xfrm>
            <a:off x="2468880" y="4160520"/>
            <a:ext cx="196596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>
            <a:spLocks noGrp="1"/>
          </p:cNvSpPr>
          <p:nvPr/>
        </p:nvSpPr>
        <p:spPr>
          <a:xfrm>
            <a:off x="2468880" y="41879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24" name="Text 19"/>
          <p:cNvSpPr>
            <a:spLocks noGrp="1"/>
          </p:cNvSpPr>
          <p:nvPr/>
        </p:nvSpPr>
        <p:spPr>
          <a:xfrm>
            <a:off x="2468880" y="4526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Ordenadores</a:t>
            </a:r>
            <a:endParaRPr lang="en-US" sz="1000" dirty="0"/>
          </a:p>
        </p:txBody>
      </p:sp>
      <p:sp>
        <p:nvSpPr>
          <p:cNvPr id="25" name="Shape 20"/>
          <p:cNvSpPr>
            <a:spLocks noGrp="1"/>
          </p:cNvSpPr>
          <p:nvPr/>
        </p:nvSpPr>
        <p:spPr>
          <a:xfrm>
            <a:off x="4617720" y="4160520"/>
            <a:ext cx="196596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>
            <a:spLocks noGrp="1"/>
          </p:cNvSpPr>
          <p:nvPr/>
        </p:nvSpPr>
        <p:spPr>
          <a:xfrm>
            <a:off x="4617720" y="41879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27" name="Text 22"/>
          <p:cNvSpPr>
            <a:spLocks noGrp="1"/>
          </p:cNvSpPr>
          <p:nvPr/>
        </p:nvSpPr>
        <p:spPr>
          <a:xfrm>
            <a:off x="4617720" y="4526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de archivos</a:t>
            </a:r>
            <a:endParaRPr lang="en-US" sz="1000" dirty="0"/>
          </a:p>
        </p:txBody>
      </p:sp>
      <p:sp>
        <p:nvSpPr>
          <p:cNvPr id="28" name="Shape 23"/>
          <p:cNvSpPr>
            <a:spLocks noGrp="1"/>
          </p:cNvSpPr>
          <p:nvPr/>
        </p:nvSpPr>
        <p:spPr>
          <a:xfrm>
            <a:off x="6766560" y="4160520"/>
            <a:ext cx="1965960" cy="7772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4"/>
          <p:cNvSpPr>
            <a:spLocks noGrp="1"/>
          </p:cNvSpPr>
          <p:nvPr/>
        </p:nvSpPr>
        <p:spPr>
          <a:xfrm>
            <a:off x="6766560" y="41879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30" name="Text 25"/>
          <p:cNvSpPr>
            <a:spLocks noGrp="1"/>
          </p:cNvSpPr>
          <p:nvPr/>
        </p:nvSpPr>
        <p:spPr>
          <a:xfrm>
            <a:off x="6766560" y="4526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centralizado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problema — ¿Por qué necesitamos LDAP?</a:t>
            </a:r>
            <a:endParaRPr lang="en-US" sz="2200" dirty="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320040" y="11887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320040" y="1188720"/>
            <a:ext cx="64008" cy="1600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>
            <a:spLocks noGrp="1"/>
          </p:cNvSpPr>
          <p:nvPr/>
        </p:nvSpPr>
        <p:spPr>
          <a:xfrm>
            <a:off x="1097280" y="1353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Altas manuales</a:t>
            </a:r>
            <a:endParaRPr lang="en-US" sz="1400" dirty="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9728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 visita físicamente cada uno de los 15 PCs para crear la cuenta de un empleado nuevo. Horas de trabajo perdidas.</a:t>
            </a:r>
            <a:endParaRPr lang="en-US" sz="1100" dirty="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320040" y="29260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320040" y="2926080"/>
            <a:ext cx="64008" cy="1600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>
            <a:spLocks noGrp="1"/>
          </p:cNvSpPr>
          <p:nvPr/>
        </p:nvSpPr>
        <p:spPr>
          <a:xfrm>
            <a:off x="1097280" y="3090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Caos de contraseñas</a:t>
            </a:r>
            <a:endParaRPr lang="en-US" sz="1400" dirty="0"/>
          </a:p>
        </p:txBody>
      </p:sp>
      <p:sp>
        <p:nvSpPr>
          <p:cNvPr id="13" name="Text 9"/>
          <p:cNvSpPr>
            <a:spLocks noGrp="1"/>
          </p:cNvSpPr>
          <p:nvPr/>
        </p:nvSpPr>
        <p:spPr>
          <a:xfrm>
            <a:off x="1097280" y="3429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empleado tiene una contraseña para el PC, otra para el NAS y otra para el correo. Post-its pegados en los monitores.</a:t>
            </a:r>
            <a:endParaRPr lang="en-US" sz="1100" dirty="0"/>
          </a:p>
        </p:txBody>
      </p:sp>
      <p:sp>
        <p:nvSpPr>
          <p:cNvPr id="14" name="Shape 10"/>
          <p:cNvSpPr>
            <a:spLocks noGrp="1"/>
          </p:cNvSpPr>
          <p:nvPr/>
        </p:nvSpPr>
        <p:spPr>
          <a:xfrm>
            <a:off x="4709160" y="11887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>
            <a:spLocks noGrp="1"/>
          </p:cNvSpPr>
          <p:nvPr/>
        </p:nvSpPr>
        <p:spPr>
          <a:xfrm>
            <a:off x="4709160" y="1188720"/>
            <a:ext cx="64008" cy="1600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716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>
            <a:spLocks noGrp="1"/>
          </p:cNvSpPr>
          <p:nvPr/>
        </p:nvSpPr>
        <p:spPr>
          <a:xfrm>
            <a:off x="5486400" y="1353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zombi</a:t>
            </a:r>
            <a:endParaRPr lang="en-US" sz="1400" dirty="0"/>
          </a:p>
        </p:txBody>
      </p:sp>
      <p:sp>
        <p:nvSpPr>
          <p:cNvPr id="18" name="Text 13"/>
          <p:cNvSpPr>
            <a:spLocks noGrp="1"/>
          </p:cNvSpPr>
          <p:nvPr/>
        </p:nvSpPr>
        <p:spPr>
          <a:xfrm>
            <a:off x="5486400" y="1691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empleado es despedido, su cuenta sigue activa en todos los PCs hasta que el admin recuerda borrarla uno por uno.</a:t>
            </a:r>
            <a:endParaRPr lang="en-US" sz="1100" dirty="0"/>
          </a:p>
        </p:txBody>
      </p:sp>
      <p:sp>
        <p:nvSpPr>
          <p:cNvPr id="19" name="Shape 14"/>
          <p:cNvSpPr>
            <a:spLocks noGrp="1"/>
          </p:cNvSpPr>
          <p:nvPr/>
        </p:nvSpPr>
        <p:spPr>
          <a:xfrm>
            <a:off x="4709160" y="29260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>
            <a:spLocks noGrp="1"/>
          </p:cNvSpPr>
          <p:nvPr/>
        </p:nvSpPr>
        <p:spPr>
          <a:xfrm>
            <a:off x="4709160" y="2926080"/>
            <a:ext cx="64008" cy="1600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089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>
            <a:spLocks noGrp="1"/>
          </p:cNvSpPr>
          <p:nvPr/>
        </p:nvSpPr>
        <p:spPr>
          <a:xfrm>
            <a:off x="5486400" y="3090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SSO</a:t>
            </a:r>
            <a:endParaRPr lang="en-US" sz="1400" dirty="0"/>
          </a:p>
        </p:txBody>
      </p:sp>
      <p:sp>
        <p:nvSpPr>
          <p:cNvPr id="23" name="Text 17"/>
          <p:cNvSpPr>
            <a:spLocks noGrp="1"/>
          </p:cNvSpPr>
          <p:nvPr/>
        </p:nvSpPr>
        <p:spPr>
          <a:xfrm>
            <a:off x="5486400" y="3429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no puede sentarse en otro PC de la empresa y acceder a sus archivos. No hay perfiles móviles ni acceso centralizado.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Análisis GAP — AS-IS vs TO-BE</a:t>
            </a:r>
            <a:endParaRPr lang="en-US" sz="2400" dirty="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320040" y="1097280"/>
            <a:ext cx="2926080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320040" y="10972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AS-IS (Situación actual)</a:t>
            </a:r>
            <a:endParaRPr lang="en-US" sz="1300" dirty="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3566160" y="1097280"/>
            <a:ext cx="201168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3566160" y="1097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</a:t>
            </a:r>
            <a:endParaRPr lang="en-US" sz="1300" dirty="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897880" y="1097280"/>
            <a:ext cx="2926080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5897880" y="10972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TO-BE (Con LDAP)</a:t>
            </a:r>
            <a:endParaRPr lang="en-US" sz="1300" dirty="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320040" y="1572768"/>
            <a:ext cx="2926080" cy="56692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411480" y="15727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locales en cada PC</a:t>
            </a:r>
            <a:endParaRPr lang="en-US" sz="1100" dirty="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3566160" y="1572768"/>
            <a:ext cx="201168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3566160" y="15727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100" dirty="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897880" y="1572768"/>
            <a:ext cx="2926080" cy="56692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5989320" y="15727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con credencial LDAP única</a:t>
            </a:r>
            <a:endParaRPr lang="en-US" sz="1100" dirty="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320040" y="2221992"/>
            <a:ext cx="29260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411480" y="222199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manual PC por PC (horas)</a:t>
            </a:r>
            <a:endParaRPr lang="en-US" sz="1100" dirty="0"/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3566160" y="2221992"/>
            <a:ext cx="20116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3566160" y="22219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usuarios</a:t>
            </a:r>
            <a:endParaRPr lang="en-US" sz="1100" dirty="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897880" y="2221992"/>
            <a:ext cx="29260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5989320" y="222199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en directorio en &lt; 5 min</a:t>
            </a:r>
            <a:endParaRPr lang="en-US" sz="1100" dirty="0"/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320040" y="2871216"/>
            <a:ext cx="2926080" cy="56692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3" name="Text 21"/>
          <p:cNvSpPr>
            <a:spLocks noGrp="1"/>
          </p:cNvSpPr>
          <p:nvPr/>
        </p:nvSpPr>
        <p:spPr>
          <a:xfrm>
            <a:off x="411480" y="287121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zombi tras despidos</a:t>
            </a:r>
            <a:endParaRPr lang="en-US" sz="1100" dirty="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3566160" y="2871216"/>
            <a:ext cx="201168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>
            <a:spLocks noGrp="1"/>
          </p:cNvSpPr>
          <p:nvPr/>
        </p:nvSpPr>
        <p:spPr>
          <a:xfrm>
            <a:off x="3566160" y="28712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de usuario</a:t>
            </a:r>
            <a:endParaRPr lang="en-US" sz="1100" dirty="0"/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5897880" y="2871216"/>
            <a:ext cx="2926080" cy="56692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7" name="Text 25"/>
          <p:cNvSpPr>
            <a:spLocks noGrp="1"/>
          </p:cNvSpPr>
          <p:nvPr/>
        </p:nvSpPr>
        <p:spPr>
          <a:xfrm>
            <a:off x="5989320" y="287121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Revocación inmediata en todos</a:t>
            </a:r>
            <a:endParaRPr lang="en-US" sz="1100" dirty="0"/>
          </a:p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320040" y="3520440"/>
            <a:ext cx="29260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>
            <a:spLocks noGrp="1"/>
          </p:cNvSpPr>
          <p:nvPr/>
        </p:nvSpPr>
        <p:spPr>
          <a:xfrm>
            <a:off x="411480" y="35204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contraseñas distintas / post-its</a:t>
            </a:r>
            <a:endParaRPr lang="en-US" sz="1100" dirty="0"/>
          </a:p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3566160" y="3520440"/>
            <a:ext cx="20116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>
            <a:spLocks noGrp="1"/>
          </p:cNvSpPr>
          <p:nvPr/>
        </p:nvSpPr>
        <p:spPr>
          <a:xfrm>
            <a:off x="3566160" y="35204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</a:t>
            </a:r>
            <a:endParaRPr lang="en-US" sz="1100" dirty="0"/>
          </a:p>
        </p:txBody>
      </p:sp>
      <p:sp>
        <p:nvSpPr>
          <p:cNvPr id="32" name="Shape 30"/>
          <p:cNvSpPr>
            <a:spLocks noGrp="1"/>
          </p:cNvSpPr>
          <p:nvPr/>
        </p:nvSpPr>
        <p:spPr>
          <a:xfrm>
            <a:off x="5897880" y="3520440"/>
            <a:ext cx="29260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>
            <a:spLocks noGrp="1"/>
          </p:cNvSpPr>
          <p:nvPr/>
        </p:nvSpPr>
        <p:spPr>
          <a:xfrm>
            <a:off x="5989320" y="35204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contraseña segura</a:t>
            </a:r>
            <a:endParaRPr lang="en-US" sz="1100" dirty="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320040" y="4169664"/>
            <a:ext cx="2926080" cy="56692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5" name="Text 33"/>
          <p:cNvSpPr>
            <a:spLocks noGrp="1"/>
          </p:cNvSpPr>
          <p:nvPr/>
        </p:nvSpPr>
        <p:spPr>
          <a:xfrm>
            <a:off x="411480" y="416966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locales por app web</a:t>
            </a:r>
            <a:endParaRPr lang="en-US" sz="1100" dirty="0"/>
          </a:p>
        </p:txBody>
      </p:sp>
      <p:sp>
        <p:nvSpPr>
          <p:cNvPr id="36" name="Shape 34"/>
          <p:cNvSpPr>
            <a:spLocks noGrp="1"/>
          </p:cNvSpPr>
          <p:nvPr/>
        </p:nvSpPr>
        <p:spPr>
          <a:xfrm>
            <a:off x="3566160" y="4169664"/>
            <a:ext cx="201168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>
            <a:spLocks noGrp="1"/>
          </p:cNvSpPr>
          <p:nvPr/>
        </p:nvSpPr>
        <p:spPr>
          <a:xfrm>
            <a:off x="3566160" y="41696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corporativas</a:t>
            </a:r>
            <a:endParaRPr lang="en-US" sz="1100" dirty="0"/>
          </a:p>
        </p:txBody>
      </p:sp>
      <p:sp>
        <p:nvSpPr>
          <p:cNvPr id="38" name="Shape 36"/>
          <p:cNvSpPr>
            <a:spLocks noGrp="1"/>
          </p:cNvSpPr>
          <p:nvPr/>
        </p:nvSpPr>
        <p:spPr>
          <a:xfrm>
            <a:off x="5897880" y="4169664"/>
            <a:ext cx="2926080" cy="56692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9" name="Text 37"/>
          <p:cNvSpPr>
            <a:spLocks noGrp="1"/>
          </p:cNvSpPr>
          <p:nvPr/>
        </p:nvSpPr>
        <p:spPr>
          <a:xfrm>
            <a:off x="5989320" y="416966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LDAP en WP/Moodle/Wiki/GLPI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Arquitectura técnica — Stack y entorno</a:t>
            </a:r>
            <a:endParaRPr lang="en-US" sz="2400" dirty="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6576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000" dirty="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365760" y="1417320"/>
            <a:ext cx="3931920" cy="475488"/>
          </a:xfrm>
          <a:prstGeom prst="rect">
            <a:avLst/>
          </a:prstGeom>
          <a:solidFill>
            <a:srgbClr val="1A2550"/>
          </a:solidFill>
          <a:ln/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365760" y="1417320"/>
            <a:ext cx="54864" cy="4754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530352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</a:t>
            </a:r>
            <a:endParaRPr lang="en-US" sz="900" dirty="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530352" y="1655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8.x</a:t>
            </a:r>
            <a:endParaRPr lang="en-US" sz="1100" dirty="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365760" y="1984248"/>
            <a:ext cx="3931920" cy="475488"/>
          </a:xfrm>
          <a:prstGeom prst="rect">
            <a:avLst/>
          </a:prstGeom>
          <a:solidFill>
            <a:srgbClr val="1A2550"/>
          </a:solidFill>
          <a:ln/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365760" y="1984248"/>
            <a:ext cx="54864" cy="4754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530352" y="1984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Servidor</a:t>
            </a:r>
            <a:endParaRPr lang="en-US" sz="900" dirty="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530352" y="2221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22.04 LTS</a:t>
            </a:r>
            <a:endParaRPr lang="en-US" sz="1100" dirty="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365760" y="2551176"/>
            <a:ext cx="3931920" cy="475488"/>
          </a:xfrm>
          <a:prstGeom prst="rect">
            <a:avLst/>
          </a:prstGeom>
          <a:solidFill>
            <a:srgbClr val="1A2550"/>
          </a:solidFill>
          <a:ln/>
        </p:spPr>
      </p:sp>
      <p:sp>
        <p:nvSpPr>
          <p:cNvPr id="14" name="Shape 12"/>
          <p:cNvSpPr>
            <a:spLocks noGrp="1"/>
          </p:cNvSpPr>
          <p:nvPr/>
        </p:nvSpPr>
        <p:spPr>
          <a:xfrm>
            <a:off x="365760" y="2551176"/>
            <a:ext cx="54864" cy="47548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530352" y="25511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</a:t>
            </a:r>
            <a:endParaRPr lang="en-US" sz="900" dirty="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530352" y="2788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OpenLDAP (slapd)</a:t>
            </a:r>
            <a:endParaRPr lang="en-US" sz="1100" dirty="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365760" y="3118104"/>
            <a:ext cx="3931920" cy="475488"/>
          </a:xfrm>
          <a:prstGeom prst="rect">
            <a:avLst/>
          </a:prstGeom>
          <a:solidFill>
            <a:srgbClr val="1A2550"/>
          </a:solidFill>
          <a:ln/>
        </p:spPr>
      </p:sp>
      <p:sp>
        <p:nvSpPr>
          <p:cNvPr id="18" name="Shape 16"/>
          <p:cNvSpPr>
            <a:spLocks noGrp="1"/>
          </p:cNvSpPr>
          <p:nvPr/>
        </p:nvSpPr>
        <p:spPr>
          <a:xfrm>
            <a:off x="365760" y="3118104"/>
            <a:ext cx="54864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530352" y="31181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</a:t>
            </a:r>
            <a:endParaRPr lang="en-US" sz="900" dirty="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530352" y="3355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 + PHP 8.3</a:t>
            </a:r>
            <a:endParaRPr lang="en-US" sz="1100" dirty="0"/>
          </a:p>
        </p:txBody>
      </p:sp>
      <p:sp>
        <p:nvSpPr>
          <p:cNvPr id="21" name="Shape 19"/>
          <p:cNvSpPr>
            <a:spLocks noGrp="1"/>
          </p:cNvSpPr>
          <p:nvPr/>
        </p:nvSpPr>
        <p:spPr>
          <a:xfrm>
            <a:off x="365760" y="3685032"/>
            <a:ext cx="3931920" cy="475488"/>
          </a:xfrm>
          <a:prstGeom prst="rect">
            <a:avLst/>
          </a:prstGeom>
          <a:solidFill>
            <a:srgbClr val="1A2550"/>
          </a:solidFill>
          <a:ln/>
        </p:spPr>
      </p:sp>
      <p:sp>
        <p:nvSpPr>
          <p:cNvPr id="22" name="Shape 20"/>
          <p:cNvSpPr>
            <a:spLocks noGrp="1"/>
          </p:cNvSpPr>
          <p:nvPr/>
        </p:nvSpPr>
        <p:spPr>
          <a:xfrm>
            <a:off x="365760" y="3685032"/>
            <a:ext cx="54864" cy="4754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3" name="Text 21"/>
          <p:cNvSpPr>
            <a:spLocks noGrp="1"/>
          </p:cNvSpPr>
          <p:nvPr/>
        </p:nvSpPr>
        <p:spPr>
          <a:xfrm>
            <a:off x="530352" y="3685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900" dirty="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530352" y="39227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10.6</a:t>
            </a:r>
            <a:endParaRPr lang="en-US" sz="1100" dirty="0"/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365760" y="4251960"/>
            <a:ext cx="3931920" cy="475488"/>
          </a:xfrm>
          <a:prstGeom prst="rect">
            <a:avLst/>
          </a:prstGeom>
          <a:solidFill>
            <a:srgbClr val="1A2550"/>
          </a:solidFill>
          <a:ln/>
        </p:spPr>
      </p:sp>
      <p:sp>
        <p:nvSpPr>
          <p:cNvPr id="26" name="Shape 24"/>
          <p:cNvSpPr>
            <a:spLocks noGrp="1"/>
          </p:cNvSpPr>
          <p:nvPr/>
        </p:nvSpPr>
        <p:spPr>
          <a:xfrm>
            <a:off x="365760" y="4251960"/>
            <a:ext cx="54864" cy="4754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>
            <a:spLocks noGrp="1"/>
          </p:cNvSpPr>
          <p:nvPr/>
        </p:nvSpPr>
        <p:spPr>
          <a:xfrm>
            <a:off x="530352" y="4251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900" dirty="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530352" y="4489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Synology — discos .vmdk</a:t>
            </a:r>
            <a:endParaRPr lang="en-US" sz="1100" dirty="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484632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EN PROXMOX VE</a:t>
            </a:r>
            <a:endParaRPr lang="en-US" sz="1000" dirty="0"/>
          </a:p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4846320" y="1417320"/>
            <a:ext cx="4023360" cy="1389888"/>
          </a:xfrm>
          <a:prstGeom prst="rect">
            <a:avLst/>
          </a:prstGeom>
          <a:solidFill>
            <a:srgbClr val="24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>
            <a:spLocks noGrp="1"/>
          </p:cNvSpPr>
          <p:nvPr/>
        </p:nvSpPr>
        <p:spPr>
          <a:xfrm>
            <a:off x="4846320" y="1417320"/>
            <a:ext cx="4023360" cy="411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2" name="Text 30"/>
          <p:cNvSpPr>
            <a:spLocks noGrp="1"/>
          </p:cNvSpPr>
          <p:nvPr/>
        </p:nvSpPr>
        <p:spPr>
          <a:xfrm>
            <a:off x="4937760" y="14813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980 — Servidor LDAP</a:t>
            </a:r>
            <a:endParaRPr lang="en-US" sz="1300" dirty="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4937760" y="19202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OpenLDAP · dc=delta,dc=local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192.168.1.250 (estática)</a:t>
            </a:r>
            <a:endParaRPr lang="en-US" sz="1100" dirty="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4846320" y="2990088"/>
            <a:ext cx="4023360" cy="1389888"/>
          </a:xfrm>
          <a:prstGeom prst="rect">
            <a:avLst/>
          </a:prstGeom>
          <a:solidFill>
            <a:srgbClr val="24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>
            <a:spLocks noGrp="1"/>
          </p:cNvSpPr>
          <p:nvPr/>
        </p:nvSpPr>
        <p:spPr>
          <a:xfrm>
            <a:off x="4846320" y="2990088"/>
            <a:ext cx="4023360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>
            <a:spLocks noGrp="1"/>
          </p:cNvSpPr>
          <p:nvPr/>
        </p:nvSpPr>
        <p:spPr>
          <a:xfrm>
            <a:off x="4937760" y="30540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984 — Cliente + Apps web</a:t>
            </a:r>
            <a:endParaRPr lang="en-US" sz="1300" dirty="0"/>
          </a:p>
        </p:txBody>
      </p:sp>
      <p:sp>
        <p:nvSpPr>
          <p:cNvPr id="37" name="Text 35"/>
          <p:cNvSpPr>
            <a:spLocks noGrp="1"/>
          </p:cNvSpPr>
          <p:nvPr/>
        </p:nvSpPr>
        <p:spPr>
          <a:xfrm>
            <a:off x="4937760" y="349300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Desktop · Apache2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· Moodle · MediaWiki · GLPI</a:t>
            </a:r>
            <a:endParaRPr lang="en-US" sz="1100" dirty="0"/>
          </a:p>
        </p:txBody>
      </p:sp>
      <p:sp>
        <p:nvSpPr>
          <p:cNvPr id="38" name="Shape 36"/>
          <p:cNvSpPr>
            <a:spLocks noGrp="1"/>
          </p:cNvSpPr>
          <p:nvPr/>
        </p:nvSpPr>
        <p:spPr>
          <a:xfrm>
            <a:off x="4846320" y="4572000"/>
            <a:ext cx="4023360" cy="3840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9" name="Text 37"/>
          <p:cNvSpPr>
            <a:spLocks noGrp="1"/>
          </p:cNvSpPr>
          <p:nvPr/>
        </p:nvSpPr>
        <p:spPr>
          <a:xfrm>
            <a:off x="4846320" y="45720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Synology  ·  /1DAM_A/images/  ·  Discos .vmdk de ambas VMs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Implementación — Fases del proyecto</a:t>
            </a:r>
            <a:endParaRPr lang="en-US" sz="2400" dirty="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320040" y="1188720"/>
            <a:ext cx="416052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320040" y="1188720"/>
            <a:ext cx="475488" cy="109728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320040" y="1188720"/>
            <a:ext cx="475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9144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virtualizado</a:t>
            </a:r>
            <a:endParaRPr lang="en-US" sz="1300" dirty="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914400" y="1600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staging → Proxmox VE producción. IP estática 192.168.1.250 con Netplan.</a:t>
            </a:r>
            <a:endParaRPr lang="en-US" sz="1050" dirty="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320040" y="2450592"/>
            <a:ext cx="416052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320040" y="2450592"/>
            <a:ext cx="475488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320040" y="2450592"/>
            <a:ext cx="475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914400" y="25420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OpenLDAP en Ubuntu</a:t>
            </a:r>
            <a:endParaRPr lang="en-US" sz="1300" dirty="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914400" y="286207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dpkg-reconfigure slapd · Base DN dc=delta,dc=local · Motor MDB · slapd activo.</a:t>
            </a:r>
            <a:endParaRPr lang="en-US" sz="1050" dirty="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320040" y="3712464"/>
            <a:ext cx="416052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320040" y="3712464"/>
            <a:ext cx="475488" cy="10972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320040" y="3712464"/>
            <a:ext cx="475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914400" y="38039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directorio</a:t>
            </a:r>
            <a:endParaRPr lang="en-US" sz="1300" dirty="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914400" y="412394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 People y Groups via .ldif · Usuarios jgarcia y mlopez · Grupos Jefes y Trabajadores.</a:t>
            </a:r>
            <a:endParaRPr lang="en-US" sz="1050" dirty="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4846320" y="1188720"/>
            <a:ext cx="416052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>
            <a:spLocks noGrp="1"/>
          </p:cNvSpPr>
          <p:nvPr/>
        </p:nvSpPr>
        <p:spPr>
          <a:xfrm>
            <a:off x="4846320" y="1188720"/>
            <a:ext cx="47548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4846320" y="1188720"/>
            <a:ext cx="475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544068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Linux SSO</a:t>
            </a:r>
            <a:endParaRPr lang="en-US" sz="1300" dirty="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5440680" y="1600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libnss-ldapd + libpam-ldapd · pam_mkhomedir · id mlopez y su - mlopez verificados.</a:t>
            </a:r>
            <a:endParaRPr lang="en-US" sz="1050" dirty="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4846320" y="2450592"/>
            <a:ext cx="416052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>
            <a:spLocks noGrp="1"/>
          </p:cNvSpPr>
          <p:nvPr/>
        </p:nvSpPr>
        <p:spPr>
          <a:xfrm>
            <a:off x="4846320" y="2450592"/>
            <a:ext cx="475488" cy="109728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6" name="Text 24"/>
          <p:cNvSpPr>
            <a:spLocks noGrp="1"/>
          </p:cNvSpPr>
          <p:nvPr/>
        </p:nvSpPr>
        <p:spPr>
          <a:xfrm>
            <a:off x="4846320" y="2450592"/>
            <a:ext cx="475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5440680" y="25420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LAMP + Apps web</a:t>
            </a:r>
            <a:endParaRPr lang="en-US" sz="1300" dirty="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5440680" y="286207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 · MariaDB · PHP 8.3 · WordPress · MediaWiki · Moodle · GLPI — todos con LDAP.</a:t>
            </a:r>
            <a:endParaRPr lang="en-US" sz="1050" dirty="0"/>
          </a:p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4846320" y="3712464"/>
            <a:ext cx="416052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>
            <a:spLocks noGrp="1"/>
          </p:cNvSpPr>
          <p:nvPr/>
        </p:nvSpPr>
        <p:spPr>
          <a:xfrm>
            <a:off x="4846320" y="3712464"/>
            <a:ext cx="475488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>
            <a:spLocks noGrp="1"/>
          </p:cNvSpPr>
          <p:nvPr/>
        </p:nvSpPr>
        <p:spPr>
          <a:xfrm>
            <a:off x="4846320" y="3712464"/>
            <a:ext cx="475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5440680" y="38039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Proxmox</a:t>
            </a:r>
            <a:endParaRPr lang="en-US" sz="1300" dirty="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5440680" y="412394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.vmdk → NAS → import Proxmox · Corrección interfaz ens18 · VMs 980 y 984.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Integración de servicios web con LDAP</a:t>
            </a:r>
            <a:endParaRPr lang="en-US" sz="2400" dirty="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3474720" y="1234440"/>
            <a:ext cx="2194560" cy="10058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3474720" y="1234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OpenLDAP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dc=delta,dc=local</a:t>
            </a:r>
            <a:endParaRPr lang="en-US" sz="1100" dirty="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2651760" y="1737360"/>
            <a:ext cx="822960" cy="0"/>
          </a:xfrm>
          <a:prstGeom prst="line">
            <a:avLst/>
          </a:prstGeom>
          <a:noFill/>
          <a:ln w="19050">
            <a:solidFill>
              <a:srgbClr val="0288D1"/>
            </a:solidFill>
            <a:prstDash val="dash"/>
          </a:ln>
        </p:spPr>
      </p:sp>
      <p:sp>
        <p:nvSpPr>
          <p:cNvPr id="7" name="Shape 5"/>
          <p:cNvSpPr>
            <a:spLocks noGrp="1"/>
          </p:cNvSpPr>
          <p:nvPr/>
        </p:nvSpPr>
        <p:spPr>
          <a:xfrm>
            <a:off x="27432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>
            <a:spLocks noGrp="1"/>
          </p:cNvSpPr>
          <p:nvPr/>
        </p:nvSpPr>
        <p:spPr>
          <a:xfrm>
            <a:off x="274320" y="1188720"/>
            <a:ext cx="2651760" cy="38404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365760" y="12435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1400" dirty="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365760" y="1645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 corporativa</a:t>
            </a:r>
            <a:endParaRPr lang="en-US" sz="1100" dirty="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365760" y="19385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miniOrange · uid · rol Subscriber</a:t>
            </a:r>
            <a:endParaRPr lang="en-US" sz="1000" dirty="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2651760" y="1965960"/>
            <a:ext cx="82296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13" name="Shape 11"/>
          <p:cNvSpPr>
            <a:spLocks noGrp="1"/>
          </p:cNvSpPr>
          <p:nvPr/>
        </p:nvSpPr>
        <p:spPr>
          <a:xfrm>
            <a:off x="274320" y="32004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>
            <a:spLocks noGrp="1"/>
          </p:cNvSpPr>
          <p:nvPr/>
        </p:nvSpPr>
        <p:spPr>
          <a:xfrm>
            <a:off x="274320" y="3200400"/>
            <a:ext cx="2651760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365760" y="32552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</a:t>
            </a:r>
            <a:endParaRPr lang="en-US" sz="1400" dirty="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365760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virtual</a:t>
            </a:r>
            <a:endParaRPr lang="en-US" sz="1100" dirty="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365760" y="395020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auth_ldap nativo · roles por grupo</a:t>
            </a:r>
            <a:endParaRPr lang="en-US" sz="1000" dirty="0"/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6035040" y="1737360"/>
            <a:ext cx="-3657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9" name="Shape 17"/>
          <p:cNvSpPr>
            <a:spLocks noGrp="1"/>
          </p:cNvSpPr>
          <p:nvPr/>
        </p:nvSpPr>
        <p:spPr>
          <a:xfrm>
            <a:off x="603504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>
            <a:spLocks noGrp="1"/>
          </p:cNvSpPr>
          <p:nvPr/>
        </p:nvSpPr>
        <p:spPr>
          <a:xfrm>
            <a:off x="6035040" y="1188720"/>
            <a:ext cx="265176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6126480" y="12435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MediaWiki</a:t>
            </a:r>
            <a:endParaRPr lang="en-US" sz="1400" dirty="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6126480" y="1645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conocimiento</a:t>
            </a:r>
            <a:endParaRPr lang="en-US" sz="1100" dirty="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6126480" y="19385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LDAP · sin cuentas locales</a:t>
            </a:r>
            <a:endParaRPr lang="en-US" sz="1000" dirty="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6035040" y="1965960"/>
            <a:ext cx="-36576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dash"/>
          </a:ln>
        </p:spPr>
      </p:sp>
      <p:sp>
        <p:nvSpPr>
          <p:cNvPr id="25" name="Shape 23"/>
          <p:cNvSpPr>
            <a:spLocks noGrp="1"/>
          </p:cNvSpPr>
          <p:nvPr/>
        </p:nvSpPr>
        <p:spPr>
          <a:xfrm>
            <a:off x="6035040" y="320040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>
            <a:spLocks noGrp="1"/>
          </p:cNvSpPr>
          <p:nvPr/>
        </p:nvSpPr>
        <p:spPr>
          <a:xfrm>
            <a:off x="6035040" y="3200400"/>
            <a:ext cx="2651760" cy="38404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7" name="Text 25"/>
          <p:cNvSpPr>
            <a:spLocks noGrp="1"/>
          </p:cNvSpPr>
          <p:nvPr/>
        </p:nvSpPr>
        <p:spPr>
          <a:xfrm>
            <a:off x="6126480" y="32552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</a:t>
            </a:r>
            <a:endParaRPr lang="en-US" sz="1400" dirty="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6126480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activos e incidencias</a:t>
            </a:r>
            <a:endParaRPr lang="en-US" sz="1100" dirty="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6126480" y="395020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Jefes → Super-Admin · Trabaj. → Self-Svc</a:t>
            </a:r>
            <a:endParaRPr lang="en-US" sz="1000" dirty="0"/>
          </a:p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>
            <a:spLocks noGrp="1"/>
          </p:cNvSpPr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Jefes (cn=Jefes) → Super-Admin en GLPI · Gestor en Moodle · Administrator en WP    |    Trabajadores → Self-Service · Estudiante · Subscriber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Pruebas y resolución de incidencias</a:t>
            </a:r>
            <a:endParaRPr lang="en-US" sz="2400" dirty="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20040" y="1078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SUPERADAS</a:t>
            </a:r>
            <a:endParaRPr lang="en-US" sz="900" dirty="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320040" y="1371600"/>
            <a:ext cx="4069080" cy="365760"/>
          </a:xfrm>
          <a:prstGeom prst="rect">
            <a:avLst/>
          </a:prstGeom>
          <a:solidFill>
            <a:srgbClr val="F0FF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356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>
            <a:spLocks noGrp="1"/>
          </p:cNvSpPr>
          <p:nvPr/>
        </p:nvSpPr>
        <p:spPr>
          <a:xfrm>
            <a:off x="6858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 slapd → active (running)</a:t>
            </a:r>
            <a:endParaRPr lang="en-US" sz="1000" dirty="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320040" y="1810512"/>
            <a:ext cx="4069080" cy="3657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745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>
            <a:spLocks noGrp="1"/>
          </p:cNvSpPr>
          <p:nvPr/>
        </p:nvSpPr>
        <p:spPr>
          <a:xfrm>
            <a:off x="685800" y="1810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mlopez → uid=10001 desde cliente Linux</a:t>
            </a:r>
            <a:endParaRPr lang="en-US" sz="1000" dirty="0"/>
          </a:p>
        </p:txBody>
      </p:sp>
      <p:sp>
        <p:nvSpPr>
          <p:cNvPr id="11" name="Shape 7"/>
          <p:cNvSpPr>
            <a:spLocks noGrp="1"/>
          </p:cNvSpPr>
          <p:nvPr/>
        </p:nvSpPr>
        <p:spPr>
          <a:xfrm>
            <a:off x="320040" y="2249424"/>
            <a:ext cx="4069080" cy="365760"/>
          </a:xfrm>
          <a:prstGeom prst="rect">
            <a:avLst/>
          </a:prstGeom>
          <a:solidFill>
            <a:srgbClr val="F0FFF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3134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>
            <a:spLocks noGrp="1"/>
          </p:cNvSpPr>
          <p:nvPr/>
        </p:nvSpPr>
        <p:spPr>
          <a:xfrm>
            <a:off x="685800" y="22494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- mlopez → login SSO + /home/mlopez creado</a:t>
            </a:r>
            <a:endParaRPr lang="en-US" sz="1000" dirty="0"/>
          </a:p>
        </p:txBody>
      </p:sp>
      <p:sp>
        <p:nvSpPr>
          <p:cNvPr id="14" name="Shape 9"/>
          <p:cNvSpPr>
            <a:spLocks noGrp="1"/>
          </p:cNvSpPr>
          <p:nvPr/>
        </p:nvSpPr>
        <p:spPr>
          <a:xfrm>
            <a:off x="320040" y="2688336"/>
            <a:ext cx="4069080" cy="3657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75234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>
            <a:spLocks noGrp="1"/>
          </p:cNvSpPr>
          <p:nvPr/>
        </p:nvSpPr>
        <p:spPr>
          <a:xfrm>
            <a:off x="685800" y="26883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WordPress con credenciales LDAP ✓</a:t>
            </a:r>
            <a:endParaRPr lang="en-US" sz="1000" dirty="0"/>
          </a:p>
        </p:txBody>
      </p:sp>
      <p:sp>
        <p:nvSpPr>
          <p:cNvPr id="17" name="Shape 11"/>
          <p:cNvSpPr>
            <a:spLocks noGrp="1"/>
          </p:cNvSpPr>
          <p:nvPr/>
        </p:nvSpPr>
        <p:spPr>
          <a:xfrm>
            <a:off x="320040" y="3127248"/>
            <a:ext cx="4069080" cy="365760"/>
          </a:xfrm>
          <a:prstGeom prst="rect">
            <a:avLst/>
          </a:prstGeom>
          <a:solidFill>
            <a:srgbClr val="F0FFF4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191256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>
            <a:spLocks noGrp="1"/>
          </p:cNvSpPr>
          <p:nvPr/>
        </p:nvSpPr>
        <p:spPr>
          <a:xfrm>
            <a:off x="685800" y="3127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Moodle · rol Gestor (jgarcia) · Estudiante (mlopez) ✓</a:t>
            </a:r>
            <a:endParaRPr lang="en-US" sz="1000" dirty="0"/>
          </a:p>
        </p:txBody>
      </p:sp>
      <p:sp>
        <p:nvSpPr>
          <p:cNvPr id="20" name="Shape 13"/>
          <p:cNvSpPr>
            <a:spLocks noGrp="1"/>
          </p:cNvSpPr>
          <p:nvPr/>
        </p:nvSpPr>
        <p:spPr>
          <a:xfrm>
            <a:off x="320040" y="3566160"/>
            <a:ext cx="4069080" cy="3657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630168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/>
        </p:nvSpPr>
        <p:spPr>
          <a:xfrm>
            <a:off x="68580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MediaWiki sin cuenta local ✓</a:t>
            </a:r>
            <a:endParaRPr lang="en-US" sz="1000" dirty="0"/>
          </a:p>
        </p:txBody>
      </p:sp>
      <p:sp>
        <p:nvSpPr>
          <p:cNvPr id="23" name="Shape 15"/>
          <p:cNvSpPr>
            <a:spLocks noGrp="1"/>
          </p:cNvSpPr>
          <p:nvPr/>
        </p:nvSpPr>
        <p:spPr>
          <a:xfrm>
            <a:off x="320040" y="4005072"/>
            <a:ext cx="4069080" cy="365760"/>
          </a:xfrm>
          <a:prstGeom prst="rect">
            <a:avLst/>
          </a:prstGeom>
          <a:solidFill>
            <a:srgbClr val="F0FFF4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069080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>
            <a:spLocks noGrp="1"/>
          </p:cNvSpPr>
          <p:nvPr/>
        </p:nvSpPr>
        <p:spPr>
          <a:xfrm>
            <a:off x="685800" y="4005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 → Super-Admin (Jefes) · Self-Service (Trabajadores) ✓</a:t>
            </a:r>
            <a:endParaRPr lang="en-US" sz="1000" dirty="0"/>
          </a:p>
        </p:txBody>
      </p:sp>
      <p:sp>
        <p:nvSpPr>
          <p:cNvPr id="26" name="Shape 17"/>
          <p:cNvSpPr>
            <a:spLocks noGrp="1"/>
          </p:cNvSpPr>
          <p:nvPr/>
        </p:nvSpPr>
        <p:spPr>
          <a:xfrm>
            <a:off x="320040" y="4443984"/>
            <a:ext cx="4069080" cy="3657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4507992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>
            <a:spLocks noGrp="1"/>
          </p:cNvSpPr>
          <p:nvPr/>
        </p:nvSpPr>
        <p:spPr>
          <a:xfrm>
            <a:off x="685800" y="44439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980 visible en red con IP 192.168.1.250 ✓</a:t>
            </a:r>
            <a:endParaRPr lang="en-US" sz="1000" dirty="0"/>
          </a:p>
        </p:txBody>
      </p:sp>
      <p:sp>
        <p:nvSpPr>
          <p:cNvPr id="29" name="Text 19"/>
          <p:cNvSpPr>
            <a:spLocks noGrp="1"/>
          </p:cNvSpPr>
          <p:nvPr/>
        </p:nvSpPr>
        <p:spPr>
          <a:xfrm>
            <a:off x="4754880" y="10789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 RESUELTAS</a:t>
            </a:r>
            <a:endParaRPr lang="en-US" sz="900" dirty="0"/>
          </a:p>
        </p:txBody>
      </p:sp>
      <p:sp>
        <p:nvSpPr>
          <p:cNvPr id="30" name="Shape 20"/>
          <p:cNvSpPr>
            <a:spLocks noGrp="1"/>
          </p:cNvSpPr>
          <p:nvPr/>
        </p:nvSpPr>
        <p:spPr>
          <a:xfrm>
            <a:off x="4754880" y="1371600"/>
            <a:ext cx="4069080" cy="10789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1"/>
          <p:cNvSpPr>
            <a:spLocks noGrp="1"/>
          </p:cNvSpPr>
          <p:nvPr/>
        </p:nvSpPr>
        <p:spPr>
          <a:xfrm>
            <a:off x="4754880" y="1371600"/>
            <a:ext cx="54864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22"/>
          <p:cNvSpPr>
            <a:spLocks noGrp="1"/>
          </p:cNvSpPr>
          <p:nvPr/>
        </p:nvSpPr>
        <p:spPr>
          <a:xfrm>
            <a:off x="4892040" y="14264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DN — ou=Poeple</a:t>
            </a:r>
            <a:endParaRPr lang="en-US" sz="1200" dirty="0"/>
          </a:p>
        </p:txBody>
      </p:sp>
      <p:sp>
        <p:nvSpPr>
          <p:cNvPr id="33" name="Text 23"/>
          <p:cNvSpPr>
            <a:spLocks noGrp="1"/>
          </p:cNvSpPr>
          <p:nvPr/>
        </p:nvSpPr>
        <p:spPr>
          <a:xfrm>
            <a:off x="4892040" y="170078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Error 'No such object (32)' en plugin WordPress LDAP.</a:t>
            </a:r>
            <a:endParaRPr lang="en-US" sz="950" dirty="0"/>
          </a:p>
        </p:txBody>
      </p:sp>
      <p:sp>
        <p:nvSpPr>
          <p:cNvPr id="34" name="Text 24"/>
          <p:cNvSpPr>
            <a:spLocks noGrp="1"/>
          </p:cNvSpPr>
          <p:nvPr/>
        </p:nvSpPr>
        <p:spPr>
          <a:xfrm>
            <a:off x="4892040" y="204825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Corregir typo ou=Poeple → ou=People en config plugin.</a:t>
            </a:r>
            <a:endParaRPr lang="en-US" sz="950" dirty="0"/>
          </a:p>
        </p:txBody>
      </p:sp>
      <p:sp>
        <p:nvSpPr>
          <p:cNvPr id="35" name="Shape 25"/>
          <p:cNvSpPr>
            <a:spLocks noGrp="1"/>
          </p:cNvSpPr>
          <p:nvPr/>
        </p:nvSpPr>
        <p:spPr>
          <a:xfrm>
            <a:off x="4754880" y="2578608"/>
            <a:ext cx="4069080" cy="10789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6"/>
          <p:cNvSpPr>
            <a:spLocks noGrp="1"/>
          </p:cNvSpPr>
          <p:nvPr/>
        </p:nvSpPr>
        <p:spPr>
          <a:xfrm>
            <a:off x="4754880" y="2578608"/>
            <a:ext cx="54864" cy="10789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27"/>
          <p:cNvSpPr>
            <a:spLocks noGrp="1"/>
          </p:cNvSpPr>
          <p:nvPr/>
        </p:nvSpPr>
        <p:spPr>
          <a:xfrm>
            <a:off x="4892040" y="2633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red post-Proxmox</a:t>
            </a:r>
            <a:endParaRPr lang="en-US" sz="1200" dirty="0"/>
          </a:p>
        </p:txBody>
      </p:sp>
      <p:sp>
        <p:nvSpPr>
          <p:cNvPr id="38" name="Text 28"/>
          <p:cNvSpPr>
            <a:spLocks noGrp="1"/>
          </p:cNvSpPr>
          <p:nvPr/>
        </p:nvSpPr>
        <p:spPr>
          <a:xfrm>
            <a:off x="4892040" y="290779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VM 980 arrancaba sin IP al migrar a Proxmox (enp0s3 no existe en VirtIO).</a:t>
            </a:r>
            <a:endParaRPr lang="en-US" sz="950" dirty="0"/>
          </a:p>
        </p:txBody>
      </p:sp>
      <p:sp>
        <p:nvSpPr>
          <p:cNvPr id="39" name="Text 29"/>
          <p:cNvSpPr>
            <a:spLocks noGrp="1"/>
          </p:cNvSpPr>
          <p:nvPr/>
        </p:nvSpPr>
        <p:spPr>
          <a:xfrm>
            <a:off x="4892040" y="325526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Editar Netplan: enp0s3 → ens18. sudo netplan apply.</a:t>
            </a:r>
            <a:endParaRPr lang="en-US" sz="950" dirty="0"/>
          </a:p>
        </p:txBody>
      </p:sp>
      <p:sp>
        <p:nvSpPr>
          <p:cNvPr id="40" name="Shape 30"/>
          <p:cNvSpPr>
            <a:spLocks noGrp="1"/>
          </p:cNvSpPr>
          <p:nvPr/>
        </p:nvSpPr>
        <p:spPr>
          <a:xfrm>
            <a:off x="4754880" y="3785616"/>
            <a:ext cx="4069080" cy="10789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1"/>
          <p:cNvSpPr>
            <a:spLocks noGrp="1"/>
          </p:cNvSpPr>
          <p:nvPr/>
        </p:nvSpPr>
        <p:spPr>
          <a:xfrm>
            <a:off x="4754880" y="3785616"/>
            <a:ext cx="54864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32"/>
          <p:cNvSpPr>
            <a:spLocks noGrp="1"/>
          </p:cNvSpPr>
          <p:nvPr/>
        </p:nvSpPr>
        <p:spPr>
          <a:xfrm>
            <a:off x="4892040" y="3840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incompatible con Moodle</a:t>
            </a:r>
            <a:endParaRPr lang="en-US" sz="1200" dirty="0"/>
          </a:p>
        </p:txBody>
      </p:sp>
      <p:sp>
        <p:nvSpPr>
          <p:cNvPr id="43" name="Text 33"/>
          <p:cNvSpPr>
            <a:spLocks noGrp="1"/>
          </p:cNvSpPr>
          <p:nvPr/>
        </p:nvSpPr>
        <p:spPr>
          <a:xfrm>
            <a:off x="4892040" y="411480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Versión PHP por defecto de Ubuntu 22.04 no cumplía requisitos Moodle 4.4.</a:t>
            </a:r>
            <a:endParaRPr lang="en-US" sz="950" dirty="0"/>
          </a:p>
        </p:txBody>
      </p:sp>
      <p:sp>
        <p:nvSpPr>
          <p:cNvPr id="44" name="Text 34"/>
          <p:cNvSpPr>
            <a:spLocks noGrp="1"/>
          </p:cNvSpPr>
          <p:nvPr/>
        </p:nvSpPr>
        <p:spPr>
          <a:xfrm>
            <a:off x="4892040" y="44622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Instalar PHP 8.3 desde repo Ondrej Surý + extensiones + max_input_vars=5000.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Conclusiones y ampliaciones futuras</a:t>
            </a:r>
            <a:endParaRPr lang="en-US" sz="2400" dirty="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20040" y="10789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ALCANZADOS</a:t>
            </a:r>
            <a:endParaRPr lang="en-US" sz="900" dirty="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320040" y="1371600"/>
            <a:ext cx="5029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>
            <a:spLocks noGrp="1"/>
          </p:cNvSpPr>
          <p:nvPr/>
        </p:nvSpPr>
        <p:spPr>
          <a:xfrm>
            <a:off x="7772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100% funcional en 5 sistemas (Linux + WP + Moodle + Wiki + GLPI)</a:t>
            </a:r>
            <a:endParaRPr lang="en-US" sz="1100" dirty="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320040" y="1920240"/>
            <a:ext cx="5029200" cy="45720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>
            <a:spLocks noGrp="1"/>
          </p:cNvSpPr>
          <p:nvPr/>
        </p:nvSpPr>
        <p:spPr>
          <a:xfrm>
            <a:off x="7772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Alta/baja de usuarios en &lt; 5 min desde un único punto de administración</a:t>
            </a:r>
            <a:endParaRPr lang="en-US" sz="1100" dirty="0"/>
          </a:p>
        </p:txBody>
      </p:sp>
      <p:sp>
        <p:nvSpPr>
          <p:cNvPr id="11" name="Shape 7"/>
          <p:cNvSpPr>
            <a:spLocks noGrp="1"/>
          </p:cNvSpPr>
          <p:nvPr/>
        </p:nvSpPr>
        <p:spPr>
          <a:xfrm>
            <a:off x="320040" y="2468880"/>
            <a:ext cx="5029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>
            <a:spLocks noGrp="1"/>
          </p:cNvSpPr>
          <p:nvPr/>
        </p:nvSpPr>
        <p:spPr>
          <a:xfrm>
            <a:off x="77724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automático de roles por grupo LDAP en todas las aplicaciones</a:t>
            </a:r>
            <a:endParaRPr lang="en-US" sz="1100" dirty="0"/>
          </a:p>
        </p:txBody>
      </p:sp>
      <p:sp>
        <p:nvSpPr>
          <p:cNvPr id="14" name="Shape 9"/>
          <p:cNvSpPr>
            <a:spLocks noGrp="1"/>
          </p:cNvSpPr>
          <p:nvPr/>
        </p:nvSpPr>
        <p:spPr>
          <a:xfrm>
            <a:off x="320040" y="3017520"/>
            <a:ext cx="5029200" cy="45720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089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>
            <a:spLocks noGrp="1"/>
          </p:cNvSpPr>
          <p:nvPr/>
        </p:nvSpPr>
        <p:spPr>
          <a:xfrm>
            <a:off x="77724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exitosa VirtualBox → Proxmox VE con NAS Synology</a:t>
            </a:r>
            <a:endParaRPr lang="en-US" sz="1100" dirty="0"/>
          </a:p>
        </p:txBody>
      </p:sp>
      <p:sp>
        <p:nvSpPr>
          <p:cNvPr id="17" name="Shape 11"/>
          <p:cNvSpPr>
            <a:spLocks noGrp="1"/>
          </p:cNvSpPr>
          <p:nvPr/>
        </p:nvSpPr>
        <p:spPr>
          <a:xfrm>
            <a:off x="320040" y="3566160"/>
            <a:ext cx="50292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65760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>
            <a:spLocks noGrp="1"/>
          </p:cNvSpPr>
          <p:nvPr/>
        </p:nvSpPr>
        <p:spPr>
          <a:xfrm>
            <a:off x="77724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completa de RA1–RA5 del módulo Proyecto Intermodular</a:t>
            </a:r>
            <a:endParaRPr lang="en-US" sz="1100" dirty="0"/>
          </a:p>
        </p:txBody>
      </p:sp>
      <p:sp>
        <p:nvSpPr>
          <p:cNvPr id="20" name="Text 13"/>
          <p:cNvSpPr>
            <a:spLocks noGrp="1"/>
          </p:cNvSpPr>
          <p:nvPr/>
        </p:nvSpPr>
        <p:spPr>
          <a:xfrm>
            <a:off x="5760720" y="10789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AMPLIACIONES FUTURAS</a:t>
            </a:r>
            <a:endParaRPr lang="en-US" sz="900" dirty="0"/>
          </a:p>
        </p:txBody>
      </p:sp>
      <p:sp>
        <p:nvSpPr>
          <p:cNvPr id="21" name="Text 14"/>
          <p:cNvSpPr>
            <a:spLocks noGrp="1"/>
          </p:cNvSpPr>
          <p:nvPr/>
        </p:nvSpPr>
        <p:spPr>
          <a:xfrm>
            <a:off x="5760720" y="13898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LDAPS (TLS) — cifrar comunicaciones LDAP</a:t>
            </a:r>
            <a:endParaRPr lang="en-US" sz="1100" dirty="0"/>
          </a:p>
        </p:txBody>
      </p:sp>
      <p:sp>
        <p:nvSpPr>
          <p:cNvPr id="22" name="Text 15"/>
          <p:cNvSpPr>
            <a:spLocks noGrp="1"/>
          </p:cNvSpPr>
          <p:nvPr/>
        </p:nvSpPr>
        <p:spPr>
          <a:xfrm>
            <a:off x="5760720" y="197510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 LDAP para alta disponibilidad</a:t>
            </a:r>
            <a:endParaRPr lang="en-US" sz="1100" dirty="0"/>
          </a:p>
        </p:txBody>
      </p:sp>
      <p:sp>
        <p:nvSpPr>
          <p:cNvPr id="23" name="Text 16"/>
          <p:cNvSpPr>
            <a:spLocks noGrp="1"/>
          </p:cNvSpPr>
          <p:nvPr/>
        </p:nvSpPr>
        <p:spPr>
          <a:xfrm>
            <a:off x="5760720" y="2560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contraseñas con overlay ppolicy</a:t>
            </a:r>
            <a:endParaRPr lang="en-US" sz="1100" dirty="0"/>
          </a:p>
        </p:txBody>
      </p:sp>
      <p:sp>
        <p:nvSpPr>
          <p:cNvPr id="24" name="Text 17"/>
          <p:cNvSpPr>
            <a:spLocks noGrp="1"/>
          </p:cNvSpPr>
          <p:nvPr/>
        </p:nvSpPr>
        <p:spPr>
          <a:xfrm>
            <a:off x="5760720" y="314553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PHP de autoservicio de usuarios</a:t>
            </a:r>
            <a:endParaRPr lang="en-US" sz="1100" dirty="0"/>
          </a:p>
        </p:txBody>
      </p:sp>
      <p:sp>
        <p:nvSpPr>
          <p:cNvPr id="25" name="Text 18"/>
          <p:cNvSpPr>
            <a:spLocks noGrp="1"/>
          </p:cNvSpPr>
          <p:nvPr/>
        </p:nvSpPr>
        <p:spPr>
          <a:xfrm>
            <a:off x="5760720" y="373075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correo (Postfix + Dovecot)</a:t>
            </a:r>
            <a:endParaRPr lang="en-US" sz="1100" dirty="0"/>
          </a:p>
        </p:txBody>
      </p:sp>
      <p:sp>
        <p:nvSpPr>
          <p:cNvPr id="26" name="Text 19"/>
          <p:cNvSpPr>
            <a:spLocks noGrp="1"/>
          </p:cNvSpPr>
          <p:nvPr/>
        </p:nvSpPr>
        <p:spPr>
          <a:xfrm>
            <a:off x="5760720" y="43159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con Zabbix o Prometheus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vuestra atención</a:t>
            </a:r>
            <a:endParaRPr lang="en-US" sz="3400" dirty="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2286000" y="1920240"/>
            <a:ext cx="457200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914400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González Ruiz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2.º SMR  ·  I.E.S. La Marisma  ·  Huelva  ·  Mayo 2026</a:t>
            </a:r>
            <a:endParaRPr lang="en-US" sz="1300" dirty="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</a:t>
            </a:r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Limón Limón</a:t>
            </a:r>
            <a:endParaRPr lang="en-US" sz="1300" dirty="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1097280" y="376732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391363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>
            <a:spLocks noGrp="1"/>
          </p:cNvSpPr>
          <p:nvPr/>
        </p:nvSpPr>
        <p:spPr>
          <a:xfrm>
            <a:off x="109728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OpenLDAP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</a:t>
            </a:r>
            <a:endParaRPr lang="en-US" sz="900" dirty="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3017520" y="376732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39136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>
            <a:spLocks noGrp="1"/>
          </p:cNvSpPr>
          <p:nvPr/>
        </p:nvSpPr>
        <p:spPr>
          <a:xfrm>
            <a:off x="301752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empleados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activo</a:t>
            </a:r>
            <a:endParaRPr lang="en-US" sz="900" dirty="0"/>
          </a:p>
        </p:txBody>
      </p:sp>
      <p:sp>
        <p:nvSpPr>
          <p:cNvPr id="15" name="Shape 11"/>
          <p:cNvSpPr>
            <a:spLocks noGrp="1"/>
          </p:cNvSpPr>
          <p:nvPr/>
        </p:nvSpPr>
        <p:spPr>
          <a:xfrm>
            <a:off x="4937760" y="376732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39136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>
            <a:spLocks noGrp="1"/>
          </p:cNvSpPr>
          <p:nvPr/>
        </p:nvSpPr>
        <p:spPr>
          <a:xfrm>
            <a:off x="493776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SSHA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seguras</a:t>
            </a:r>
            <a:endParaRPr lang="en-US" sz="900" dirty="0"/>
          </a:p>
        </p:txBody>
      </p:sp>
      <p:sp>
        <p:nvSpPr>
          <p:cNvPr id="18" name="Shape 13"/>
          <p:cNvSpPr>
            <a:spLocks noGrp="1"/>
          </p:cNvSpPr>
          <p:nvPr/>
        </p:nvSpPr>
        <p:spPr>
          <a:xfrm>
            <a:off x="6858000" y="376732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391363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>
            <a:spLocks noGrp="1"/>
          </p:cNvSpPr>
          <p:nvPr/>
        </p:nvSpPr>
        <p:spPr>
          <a:xfrm>
            <a:off x="685800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apps web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Implementación de Directorio Activo con OpenLDAP</dc:title>
  <dc:subject>PptxGenJS Presentation</dc:subject>
  <dc:creator>Jesús González Ruiz</dc:creator>
  <cp:lastModifiedBy>Jesús González Ruiz</cp:lastModifiedBy>
  <cp:revision>1</cp:revision>
  <dcterms:created xsi:type="dcterms:W3CDTF">2026-05-17T11:19:35Z</dcterms:created>
  <dcterms:modified xsi:type="dcterms:W3CDTF">2026-05-17T11:19:35Z</dcterms:modified>
</cp:coreProperties>
</file>